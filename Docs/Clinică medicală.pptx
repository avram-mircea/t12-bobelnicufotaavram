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1.pn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image" Target="../media/image2.png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image" Target="../media/image3.png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image" Target="../media/image4.png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5.png"/><Relationship Id="rId1" Type="http://schemas.openxmlformats.org/officeDocument/2006/relationships/tags" Target="../tags/tag8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image" Target="../media/image6.png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image" Target="../media/image7.png"/><Relationship Id="rId1" Type="http://schemas.openxmlformats.org/officeDocument/2006/relationships/tags" Target="../tags/tag9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image" Target="../media/image8.png"/><Relationship Id="rId1" Type="http://schemas.openxmlformats.org/officeDocument/2006/relationships/tags" Target="../tags/tag9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image" Target="../media/image9.png"/><Relationship Id="rId1" Type="http://schemas.openxmlformats.org/officeDocument/2006/relationships/tags" Target="../tags/tag10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image" Target="../media/image10.png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Clinic</a:t>
            </a:r>
            <a:r>
              <a:rPr lang="ro-RO" altLang="en-US"/>
              <a:t>ă</a:t>
            </a:r>
            <a:r>
              <a:rPr lang="en-US"/>
              <a:t> </a:t>
            </a:r>
            <a:r>
              <a:rPr lang="ro-RO" altLang="en-US"/>
              <a:t>m</a:t>
            </a:r>
            <a:r>
              <a:rPr lang="en-US"/>
              <a:t>edical</a:t>
            </a:r>
            <a:r>
              <a:rPr lang="ro-RO" altLang="en-US"/>
              <a:t>ă</a:t>
            </a:r>
            <a:endParaRPr lang="ro-RO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/>
              <a:t>Bobelnicu Alin-Marian</a:t>
            </a:r>
            <a:br>
              <a:rPr lang="en-US"/>
            </a:br>
            <a:r>
              <a:rPr lang="en-US"/>
              <a:t>Avram Mircea</a:t>
            </a:r>
            <a:br>
              <a:rPr lang="en-US"/>
            </a:br>
            <a:r>
              <a:rPr lang="en-US"/>
              <a:t>Fota Ioan-Valeriu</a:t>
            </a:r>
            <a:br>
              <a:rPr lang="en-US"/>
            </a:br>
            <a:r>
              <a:rPr lang="en-US"/>
              <a:t>CR3.1A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o-RO" altLang="en-US"/>
              <a:t>Descrierea aplicației</a:t>
            </a:r>
            <a:endParaRPr lang="ro-RO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o-RO" altLang="en-US"/>
              <a:t>-</a:t>
            </a:r>
            <a:r>
              <a:rPr lang="en-US" altLang="en-US"/>
              <a:t>Gestiune conturi pe roluri (Medic, Pacient, Admin) cu acces restric</a:t>
            </a:r>
            <a:r>
              <a:rPr lang="" altLang="en-US"/>
              <a:t>ț</a:t>
            </a:r>
            <a:r>
              <a:rPr lang="en-US" altLang="en-US"/>
              <a:t>ionat, istoric autentific</a:t>
            </a:r>
            <a:r>
              <a:rPr lang="" altLang="en-US"/>
              <a:t>ă</a:t>
            </a:r>
            <a:r>
              <a:rPr lang="en-US" altLang="en-US"/>
              <a:t>ri </a:t>
            </a:r>
            <a:r>
              <a:rPr lang="" altLang="en-US"/>
              <a:t>ș</a:t>
            </a:r>
            <a:r>
              <a:rPr lang="en-US" altLang="en-US"/>
              <a:t>i control granular al permisiunilor.</a:t>
            </a:r>
            <a:br>
              <a:rPr lang="en-US" altLang="en-US"/>
            </a:br>
            <a:r>
              <a:rPr lang="ro-RO" altLang="en-US"/>
              <a:t>-</a:t>
            </a:r>
            <a:r>
              <a:rPr lang="en-US" altLang="en-US"/>
              <a:t>Inventarierea </a:t>
            </a:r>
            <a:r>
              <a:rPr lang="" altLang="en-US"/>
              <a:t>ș</a:t>
            </a:r>
            <a:r>
              <a:rPr lang="en-US" altLang="en-US"/>
              <a:t>i configurarea logistic</a:t>
            </a:r>
            <a:r>
              <a:rPr lang="" altLang="en-US"/>
              <a:t>ă </a:t>
            </a:r>
            <a:r>
              <a:rPr lang="en-US" altLang="en-US"/>
              <a:t>a cabinetelor </a:t>
            </a:r>
            <a:r>
              <a:rPr lang="" altLang="en-US"/>
              <a:t>ș</a:t>
            </a:r>
            <a:r>
              <a:rPr lang="en-US" altLang="en-US"/>
              <a:t>i aparaturii, incluzând perioade de mentenan</a:t>
            </a:r>
            <a:r>
              <a:rPr lang="" altLang="en-US"/>
              <a:t>ță ș</a:t>
            </a:r>
            <a:r>
              <a:rPr lang="en-US" altLang="en-US"/>
              <a:t>i reguli de utilizare pe specializ</a:t>
            </a:r>
            <a:r>
              <a:rPr lang="" altLang="en-US"/>
              <a:t>ă</a:t>
            </a:r>
            <a:r>
              <a:rPr lang="en-US" altLang="en-US"/>
              <a:t>ri.</a:t>
            </a:r>
            <a:br>
              <a:rPr lang="en-US" altLang="en-US"/>
            </a:br>
            <a:r>
              <a:rPr lang="ro-RO" altLang="en-US"/>
              <a:t>-</a:t>
            </a:r>
            <a:r>
              <a:rPr lang="en-US" altLang="en-US"/>
              <a:t>Motor de rezerv</a:t>
            </a:r>
            <a:r>
              <a:rPr lang="" altLang="en-US"/>
              <a:t>ă</a:t>
            </a:r>
            <a:r>
              <a:rPr lang="en-US" altLang="en-US"/>
              <a:t>ri online </a:t>
            </a:r>
            <a:r>
              <a:rPr lang="" altLang="en-US"/>
              <a:t>ș</a:t>
            </a:r>
            <a:r>
              <a:rPr lang="en-US" altLang="en-US"/>
              <a:t>i offline cu validare automat</a:t>
            </a:r>
            <a:r>
              <a:rPr lang="" altLang="en-US"/>
              <a:t>ă </a:t>
            </a:r>
            <a:r>
              <a:rPr lang="en-US" altLang="en-US"/>
              <a:t>a disponibilit</a:t>
            </a:r>
            <a:r>
              <a:rPr lang="" altLang="en-US"/>
              <a:t>ăț</a:t>
            </a:r>
            <a:r>
              <a:rPr lang="en-US" altLang="en-US"/>
              <a:t>ii personalului/echipamentelor </a:t>
            </a:r>
            <a:r>
              <a:rPr lang="" altLang="en-US"/>
              <a:t>ș</a:t>
            </a:r>
            <a:r>
              <a:rPr lang="en-US" altLang="en-US"/>
              <a:t>i prevenirea suprapunerilor în calendar.</a:t>
            </a:r>
            <a:br>
              <a:rPr lang="en-US" altLang="en-US"/>
            </a:br>
            <a:r>
              <a:rPr lang="ro-RO" altLang="en-US"/>
              <a:t>-</a:t>
            </a:r>
            <a:r>
              <a:rPr lang="en-US" altLang="en-US"/>
              <a:t>Fi</a:t>
            </a:r>
            <a:r>
              <a:rPr lang="" altLang="en-US"/>
              <a:t>șă </a:t>
            </a:r>
            <a:r>
              <a:rPr lang="en-US" altLang="en-US"/>
              <a:t>electronic</a:t>
            </a:r>
            <a:r>
              <a:rPr lang="" altLang="en-US"/>
              <a:t>ă </a:t>
            </a:r>
            <a:r>
              <a:rPr lang="en-US" altLang="en-US"/>
              <a:t>complet</a:t>
            </a:r>
            <a:r>
              <a:rPr lang="" altLang="en-US"/>
              <a:t>ă </a:t>
            </a:r>
            <a:r>
              <a:rPr lang="en-US" altLang="en-US"/>
              <a:t>cu istoric de consulta</a:t>
            </a:r>
            <a:r>
              <a:rPr lang="" altLang="en-US"/>
              <a:t>ț</a:t>
            </a:r>
            <a:r>
              <a:rPr lang="en-US" altLang="en-US"/>
              <a:t>ii, înc</a:t>
            </a:r>
            <a:r>
              <a:rPr lang="" altLang="en-US"/>
              <a:t>ă</a:t>
            </a:r>
            <a:r>
              <a:rPr lang="en-US" altLang="en-US"/>
              <a:t>rcare documente externe, monitorizarea evolu</a:t>
            </a:r>
            <a:r>
              <a:rPr lang="" altLang="en-US"/>
              <a:t>ț</a:t>
            </a:r>
            <a:r>
              <a:rPr lang="en-US" altLang="en-US"/>
              <a:t>iei </a:t>
            </a:r>
            <a:r>
              <a:rPr lang="" altLang="en-US"/>
              <a:t>ș</a:t>
            </a:r>
            <a:r>
              <a:rPr lang="en-US" altLang="en-US"/>
              <a:t>i vizualizarea cronologic</a:t>
            </a:r>
            <a:r>
              <a:rPr lang="" altLang="en-US"/>
              <a:t>ă </a:t>
            </a:r>
            <a:r>
              <a:rPr lang="en-US" altLang="en-US"/>
              <a:t>a analizelor.</a:t>
            </a:r>
            <a:br>
              <a:rPr lang="en-US" altLang="en-US"/>
            </a:br>
            <a:r>
              <a:rPr lang="ro-RO" altLang="en-US"/>
              <a:t>-</a:t>
            </a:r>
            <a:r>
              <a:rPr lang="en-US" altLang="en-US"/>
              <a:t>Evaluare reciproc</a:t>
            </a:r>
            <a:r>
              <a:rPr lang="" altLang="en-US"/>
              <a:t>ă </a:t>
            </a:r>
            <a:r>
              <a:rPr lang="en-US" altLang="en-US"/>
              <a:t>medic-pacient post-consulta</a:t>
            </a:r>
            <a:r>
              <a:rPr lang="" altLang="en-US"/>
              <a:t>ț</a:t>
            </a:r>
            <a:r>
              <a:rPr lang="en-US" altLang="en-US"/>
              <a:t>ie, calcul automat al mediilor de rating </a:t>
            </a:r>
            <a:r>
              <a:rPr lang="" altLang="en-US"/>
              <a:t>ș</a:t>
            </a:r>
            <a:r>
              <a:rPr lang="en-US" altLang="en-US"/>
              <a:t>i moderare administrativ</a:t>
            </a:r>
            <a:r>
              <a:rPr lang="" altLang="en-US"/>
              <a:t>ă </a:t>
            </a:r>
            <a:r>
              <a:rPr lang="en-US" altLang="en-US"/>
              <a:t>a comentariilor.</a:t>
            </a:r>
            <a:br>
              <a:rPr lang="en-US" altLang="en-US"/>
            </a:b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1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2435" y="1788795"/>
            <a:ext cx="5844540" cy="426466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Pagina de întâmpinare (Landing Page). Aceasta este prima interfa</a:t>
            </a:r>
            <a:r>
              <a:rPr lang="" altLang="en-US"/>
              <a:t>ță </a:t>
            </a:r>
            <a:r>
              <a:rPr lang="en-US" altLang="en-US"/>
              <a:t>cu care interac</a:t>
            </a:r>
            <a:r>
              <a:rPr lang="" altLang="en-US"/>
              <a:t>ț</a:t>
            </a:r>
            <a:r>
              <a:rPr lang="en-US" altLang="en-US"/>
              <a:t>ioneaz</a:t>
            </a:r>
            <a:r>
              <a:rPr lang="" altLang="en-US"/>
              <a:t>ă </a:t>
            </a:r>
            <a:r>
              <a:rPr lang="en-US" altLang="en-US"/>
              <a:t>utilizatorul. Designul este curat </a:t>
            </a:r>
            <a:r>
              <a:rPr lang="" altLang="en-US"/>
              <a:t>ș</a:t>
            </a:r>
            <a:r>
              <a:rPr lang="en-US" altLang="en-US"/>
              <a:t>i modern, axat pe încredere. Con</a:t>
            </a:r>
            <a:r>
              <a:rPr lang="" altLang="en-US"/>
              <a:t>ț</a:t>
            </a:r>
            <a:r>
              <a:rPr lang="en-US" altLang="en-US"/>
              <a:t>ine sec</a:t>
            </a:r>
            <a:r>
              <a:rPr lang="" altLang="en-US"/>
              <a:t>ț</a:t>
            </a:r>
            <a:r>
              <a:rPr lang="en-US" altLang="en-US"/>
              <a:t>iunea de „Call to Action” cu butoane pentru autentificare </a:t>
            </a:r>
            <a:r>
              <a:rPr lang="" altLang="en-US"/>
              <a:t>ș</a:t>
            </a:r>
            <a:r>
              <a:rPr lang="en-US" altLang="en-US"/>
              <a:t>i înregistrare, urmat</a:t>
            </a:r>
            <a:r>
              <a:rPr lang="" altLang="en-US"/>
              <a:t>ă </a:t>
            </a:r>
            <a:r>
              <a:rPr lang="en-US" altLang="en-US"/>
              <a:t>de o prezentare a beneficiilor clinicii (speciali</a:t>
            </a:r>
            <a:r>
              <a:rPr lang="" altLang="en-US"/>
              <a:t>ș</a:t>
            </a:r>
            <a:r>
              <a:rPr lang="en-US" altLang="en-US"/>
              <a:t>ti, program</a:t>
            </a:r>
            <a:r>
              <a:rPr lang="" altLang="en-US"/>
              <a:t>ă</a:t>
            </a:r>
            <a:r>
              <a:rPr lang="en-US" altLang="en-US"/>
              <a:t>ri 24/7 </a:t>
            </a:r>
            <a:r>
              <a:rPr lang="" altLang="en-US"/>
              <a:t>ș</a:t>
            </a:r>
            <a:r>
              <a:rPr lang="en-US" altLang="en-US"/>
              <a:t>i echipamente moderne), servind drept punct de intrare pentru pacien</a:t>
            </a:r>
            <a:r>
              <a:rPr lang="" altLang="en-US"/>
              <a:t>ț</a:t>
            </a:r>
            <a:r>
              <a:rPr lang="en-US" altLang="en-US"/>
              <a:t>i.</a:t>
            </a:r>
            <a:endParaRPr lang="en-US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2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1480" y="1767840"/>
            <a:ext cx="5844540" cy="423354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Formularul complex de înregistrare pacient. Aceast</a:t>
            </a:r>
            <a:r>
              <a:rPr lang="" altLang="en-US"/>
              <a:t>ă </a:t>
            </a:r>
            <a:r>
              <a:rPr lang="en-US" altLang="en-US"/>
              <a:t>pagin</a:t>
            </a:r>
            <a:r>
              <a:rPr lang="" altLang="en-US"/>
              <a:t>ă </a:t>
            </a:r>
            <a:r>
              <a:rPr lang="en-US" altLang="en-US"/>
              <a:t>permite colectarea datelor esen</a:t>
            </a:r>
            <a:r>
              <a:rPr lang="" altLang="en-US"/>
              <a:t>ț</a:t>
            </a:r>
            <a:r>
              <a:rPr lang="en-US" altLang="en-US"/>
              <a:t>iale conform cerin</a:t>
            </a:r>
            <a:r>
              <a:rPr lang="" altLang="en-US"/>
              <a:t>ț</a:t>
            </a:r>
            <a:r>
              <a:rPr lang="en-US" altLang="en-US"/>
              <a:t>elor de securitate </a:t>
            </a:r>
            <a:r>
              <a:rPr lang="" altLang="en-US"/>
              <a:t>ș</a:t>
            </a:r>
            <a:r>
              <a:rPr lang="en-US" altLang="en-US"/>
              <a:t>i medicale. Pe lâng</a:t>
            </a:r>
            <a:r>
              <a:rPr lang="" altLang="en-US"/>
              <a:t>ă </a:t>
            </a:r>
            <a:r>
              <a:rPr lang="en-US" altLang="en-US"/>
              <a:t>datele de identificare (Nume, CNP, Email), formularul include informa</a:t>
            </a:r>
            <a:r>
              <a:rPr lang="" altLang="en-US"/>
              <a:t>ț</a:t>
            </a:r>
            <a:r>
              <a:rPr lang="en-US" altLang="en-US"/>
              <a:t>ii critice precum grupa sanguin</a:t>
            </a:r>
            <a:r>
              <a:rPr lang="" altLang="en-US"/>
              <a:t>ă ș</a:t>
            </a:r>
            <a:r>
              <a:rPr lang="en-US" altLang="en-US"/>
              <a:t>i contactul de urgen</a:t>
            </a:r>
            <a:r>
              <a:rPr lang="" altLang="en-US"/>
              <a:t>ță. </a:t>
            </a:r>
            <a:r>
              <a:rPr lang="en-US" altLang="en-US"/>
              <a:t>Se observ</a:t>
            </a:r>
            <a:r>
              <a:rPr lang="" altLang="en-US"/>
              <a:t>ă ș</a:t>
            </a:r>
            <a:r>
              <a:rPr lang="en-US" altLang="en-US"/>
              <a:t>i implementarea regulilor de securitate pentru parol</a:t>
            </a:r>
            <a:r>
              <a:rPr lang="" altLang="en-US"/>
              <a:t>ă (</a:t>
            </a:r>
            <a:r>
              <a:rPr lang="en-US" altLang="en-US"/>
              <a:t>simboluri, lungime), validate în timp real.</a:t>
            </a:r>
            <a:endParaRPr lang="en-US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3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2435" y="1924050"/>
            <a:ext cx="5823585" cy="411924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Dashboard-ul personalizat al pacientului. Odat</a:t>
            </a:r>
            <a:r>
              <a:rPr lang="" altLang="en-US"/>
              <a:t>ă </a:t>
            </a:r>
            <a:r>
              <a:rPr lang="en-US" altLang="en-US"/>
              <a:t>autentificat, utilizatorul este întâmpinat cu un mesaj personalizat. Interfa</a:t>
            </a:r>
            <a:r>
              <a:rPr lang="" altLang="en-US"/>
              <a:t>ț</a:t>
            </a:r>
            <a:r>
              <a:rPr lang="en-US" altLang="en-US"/>
              <a:t>a este simplificat</a:t>
            </a:r>
            <a:r>
              <a:rPr lang="" altLang="en-US"/>
              <a:t>ă </a:t>
            </a:r>
            <a:r>
              <a:rPr lang="en-US" altLang="en-US"/>
              <a:t>prin carduri de ac</a:t>
            </a:r>
            <a:r>
              <a:rPr lang="" altLang="en-US"/>
              <a:t>ț</a:t>
            </a:r>
            <a:r>
              <a:rPr lang="en-US" altLang="en-US"/>
              <a:t>iune rapid</a:t>
            </a:r>
            <a:r>
              <a:rPr lang="" altLang="en-US"/>
              <a:t>ă: </a:t>
            </a:r>
            <a:r>
              <a:rPr lang="en-US" altLang="en-US"/>
              <a:t>solicitarea unei program</a:t>
            </a:r>
            <a:r>
              <a:rPr lang="" altLang="en-US"/>
              <a:t>ă</a:t>
            </a:r>
            <a:r>
              <a:rPr lang="en-US" altLang="en-US"/>
              <a:t>ri noi, vizualizarea istoricului program</a:t>
            </a:r>
            <a:r>
              <a:rPr lang="" altLang="en-US"/>
              <a:t>ă</a:t>
            </a:r>
            <a:r>
              <a:rPr lang="en-US" altLang="en-US"/>
              <a:t>rilor </a:t>
            </a:r>
            <a:r>
              <a:rPr lang="" altLang="en-US"/>
              <a:t>ș</a:t>
            </a:r>
            <a:r>
              <a:rPr lang="en-US" altLang="en-US"/>
              <a:t>i accesarea fi</a:t>
            </a:r>
            <a:r>
              <a:rPr lang="" altLang="en-US"/>
              <a:t>ș</a:t>
            </a:r>
            <a:r>
              <a:rPr lang="en-US" altLang="en-US"/>
              <a:t>ei medicale. </a:t>
            </a:r>
            <a:r>
              <a:rPr lang="" altLang="en-US"/>
              <a:t>Î</a:t>
            </a:r>
            <a:r>
              <a:rPr lang="en-US" altLang="en-US"/>
              <a:t>n partea de jos exist</a:t>
            </a:r>
            <a:r>
              <a:rPr lang="" altLang="en-US"/>
              <a:t>ă </a:t>
            </a:r>
            <a:r>
              <a:rPr lang="en-US" altLang="en-US"/>
              <a:t>o sec</a:t>
            </a:r>
            <a:r>
              <a:rPr lang="" altLang="en-US"/>
              <a:t>ț</a:t>
            </a:r>
            <a:r>
              <a:rPr lang="en-US" altLang="en-US"/>
              <a:t>iune de „Program</a:t>
            </a:r>
            <a:r>
              <a:rPr lang="" altLang="en-US"/>
              <a:t>ă</a:t>
            </a:r>
            <a:r>
              <a:rPr lang="en-US" altLang="en-US"/>
              <a:t>ri viitoare” pentru a oferi o imagine de ansamblu imediat</a:t>
            </a:r>
            <a:r>
              <a:rPr lang="" altLang="en-US"/>
              <a:t>ă </a:t>
            </a:r>
            <a:r>
              <a:rPr lang="en-US" altLang="en-US"/>
              <a:t>asupra vizitelor medicale.</a:t>
            </a:r>
            <a:endParaRPr lang="en-US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7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1830070"/>
            <a:ext cx="5233035" cy="421259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Gestiunea program</a:t>
            </a:r>
            <a:r>
              <a:rPr lang="" altLang="en-US"/>
              <a:t>ă</a:t>
            </a:r>
            <a:r>
              <a:rPr lang="en-US" altLang="en-US"/>
              <a:t>rilor proprii (Pacient). Aceast</a:t>
            </a:r>
            <a:r>
              <a:rPr lang="" altLang="en-US"/>
              <a:t>ă </a:t>
            </a:r>
            <a:r>
              <a:rPr lang="en-US" altLang="en-US"/>
              <a:t>list</a:t>
            </a:r>
            <a:r>
              <a:rPr lang="" altLang="en-US"/>
              <a:t>ă </a:t>
            </a:r>
            <a:r>
              <a:rPr lang="en-US" altLang="en-US"/>
              <a:t>permite pacientului s</a:t>
            </a:r>
            <a:r>
              <a:rPr lang="" altLang="en-US"/>
              <a:t>ă </a:t>
            </a:r>
            <a:r>
              <a:rPr lang="en-US" altLang="en-US"/>
              <a:t>urm</a:t>
            </a:r>
            <a:r>
              <a:rPr lang="" altLang="en-US"/>
              <a:t>ă</a:t>
            </a:r>
            <a:r>
              <a:rPr lang="en-US" altLang="en-US"/>
              <a:t>reasc</a:t>
            </a:r>
            <a:r>
              <a:rPr lang="" altLang="en-US"/>
              <a:t>ă </a:t>
            </a:r>
            <a:r>
              <a:rPr lang="en-US" altLang="en-US"/>
              <a:t>statusul cererilor sale. </a:t>
            </a:r>
            <a:r>
              <a:rPr lang="" altLang="en-US"/>
              <a:t>Î</a:t>
            </a:r>
            <a:r>
              <a:rPr lang="en-US" altLang="en-US"/>
              <a:t>n imagine se observ</a:t>
            </a:r>
            <a:r>
              <a:rPr lang="" altLang="en-US"/>
              <a:t>ă </a:t>
            </a:r>
            <a:r>
              <a:rPr lang="en-US" altLang="en-US"/>
              <a:t>o programare cu statusul „A</a:t>
            </a:r>
            <a:r>
              <a:rPr lang="" altLang="en-US"/>
              <a:t>ș</a:t>
            </a:r>
            <a:r>
              <a:rPr lang="en-US" altLang="en-US"/>
              <a:t>teapt</a:t>
            </a:r>
            <a:r>
              <a:rPr lang="" altLang="en-US"/>
              <a:t>ă </a:t>
            </a:r>
            <a:r>
              <a:rPr lang="en-US" altLang="en-US"/>
              <a:t>confirmare” (marcat cu galben), oferind utilizatorului </a:t>
            </a:r>
            <a:r>
              <a:rPr lang="" altLang="en-US"/>
              <a:t>ș</a:t>
            </a:r>
            <a:r>
              <a:rPr lang="en-US" altLang="en-US"/>
              <a:t>i op</a:t>
            </a:r>
            <a:r>
              <a:rPr lang="" altLang="en-US"/>
              <a:t>ț</a:t>
            </a:r>
            <a:r>
              <a:rPr lang="en-US" altLang="en-US"/>
              <a:t>iunea de a anula programarea înainte ca aceasta s</a:t>
            </a:r>
            <a:r>
              <a:rPr lang="" altLang="en-US"/>
              <a:t>ă </a:t>
            </a:r>
            <a:r>
              <a:rPr lang="en-US" altLang="en-US"/>
              <a:t>fie procesat</a:t>
            </a:r>
            <a:r>
              <a:rPr lang="" altLang="en-US"/>
              <a:t>ă </a:t>
            </a:r>
            <a:r>
              <a:rPr lang="en-US" altLang="en-US"/>
              <a:t>de clinic</a:t>
            </a:r>
            <a:r>
              <a:rPr lang="" altLang="en-US"/>
              <a:t>ă.</a:t>
            </a:r>
            <a:endParaRPr lang="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4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2068195"/>
            <a:ext cx="5347335" cy="393319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Crearea contului pentru personalul medical. Interfa</a:t>
            </a:r>
            <a:r>
              <a:rPr lang="" altLang="en-US"/>
              <a:t>ț</a:t>
            </a:r>
            <a:r>
              <a:rPr lang="en-US" altLang="en-US"/>
              <a:t>a de admin pentru ad</a:t>
            </a:r>
            <a:r>
              <a:rPr lang="" altLang="en-US"/>
              <a:t>ă</a:t>
            </a:r>
            <a:r>
              <a:rPr lang="en-US" altLang="en-US"/>
              <a:t>ugarea unui medic. Aceasta colecteaz</a:t>
            </a:r>
            <a:r>
              <a:rPr lang="" altLang="en-US"/>
              <a:t>ă </a:t>
            </a:r>
            <a:r>
              <a:rPr lang="en-US" altLang="en-US"/>
              <a:t>date specifice rolului (REQ-01), cum ar fi specializarea, codul de paraf</a:t>
            </a:r>
            <a:r>
              <a:rPr lang="" altLang="en-US"/>
              <a:t>ă, </a:t>
            </a:r>
            <a:r>
              <a:rPr lang="en-US" altLang="en-US"/>
              <a:t>gradul profesional </a:t>
            </a:r>
            <a:r>
              <a:rPr lang="" altLang="en-US"/>
              <a:t>ș</a:t>
            </a:r>
            <a:r>
              <a:rPr lang="en-US" altLang="en-US"/>
              <a:t>i costul consulta</a:t>
            </a:r>
            <a:r>
              <a:rPr lang="" altLang="en-US"/>
              <a:t>ț</a:t>
            </a:r>
            <a:r>
              <a:rPr lang="en-US" altLang="en-US"/>
              <a:t>iei, asigurându-se c</a:t>
            </a:r>
            <a:r>
              <a:rPr lang="" altLang="en-US"/>
              <a:t>ă </a:t>
            </a:r>
            <a:r>
              <a:rPr lang="en-US" altLang="en-US"/>
              <a:t>profilul medicului este complet pentru motorul de program</a:t>
            </a:r>
            <a:r>
              <a:rPr lang="" altLang="en-US"/>
              <a:t>ă</a:t>
            </a:r>
            <a:r>
              <a:rPr lang="en-US" altLang="en-US"/>
              <a:t>ri.</a:t>
            </a:r>
            <a:endParaRPr lang="en-US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5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5780" y="1840865"/>
            <a:ext cx="5668645" cy="419227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Managementul centralizat al utilizatorilor. Un tabel administrativ care ofer</a:t>
            </a:r>
            <a:r>
              <a:rPr lang="" altLang="en-US"/>
              <a:t>ă </a:t>
            </a:r>
            <a:r>
              <a:rPr lang="en-US" altLang="en-US"/>
              <a:t>control total asupra bazei de date de utilizatori. Administratorul poate vedea rolul fiec</a:t>
            </a:r>
            <a:r>
              <a:rPr lang="" altLang="en-US"/>
              <a:t>ă</a:t>
            </a:r>
            <a:r>
              <a:rPr lang="en-US" altLang="en-US"/>
              <a:t>ruia, statusul (Activ/Inactiv) </a:t>
            </a:r>
            <a:r>
              <a:rPr lang="" altLang="en-US"/>
              <a:t>ș</a:t>
            </a:r>
            <a:r>
              <a:rPr lang="en-US" altLang="en-US"/>
              <a:t>i ultima autentificare. Butoanele de ac</a:t>
            </a:r>
            <a:r>
              <a:rPr lang="" altLang="en-US"/>
              <a:t>ț</a:t>
            </a:r>
            <a:r>
              <a:rPr lang="en-US" altLang="en-US"/>
              <a:t>iune permit editarea rapid</a:t>
            </a:r>
            <a:r>
              <a:rPr lang="" altLang="en-US"/>
              <a:t>ă, </a:t>
            </a:r>
            <a:r>
              <a:rPr lang="en-US" altLang="en-US"/>
              <a:t>resetarea parolei sau dezactivarea contului</a:t>
            </a:r>
            <a:r>
              <a:rPr lang="ro-RO" altLang="en-US"/>
              <a:t>.</a:t>
            </a:r>
            <a:endParaRPr lang="ro-RO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6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4505" y="1704975"/>
            <a:ext cx="5791835" cy="445897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Gestiunea resurselor </a:t>
            </a:r>
            <a:r>
              <a:rPr lang="" altLang="en-US"/>
              <a:t>ș</a:t>
            </a:r>
            <a:r>
              <a:rPr lang="en-US" altLang="en-US"/>
              <a:t>i regulilor de business. Aceast</a:t>
            </a:r>
            <a:r>
              <a:rPr lang="" altLang="en-US"/>
              <a:t>ă </a:t>
            </a:r>
            <a:r>
              <a:rPr lang="en-US" altLang="en-US"/>
              <a:t>pagin</a:t>
            </a:r>
            <a:r>
              <a:rPr lang="" altLang="en-US"/>
              <a:t>ă </a:t>
            </a:r>
            <a:r>
              <a:rPr lang="en-US" altLang="en-US"/>
              <a:t>arat</a:t>
            </a:r>
            <a:r>
              <a:rPr lang="" altLang="en-US"/>
              <a:t>ă </a:t>
            </a:r>
            <a:r>
              <a:rPr lang="en-US" altLang="en-US"/>
              <a:t>inventarul logistic al clinicii (ex: Sala de urgen</a:t>
            </a:r>
            <a:r>
              <a:rPr lang="" altLang="en-US"/>
              <a:t>ță). </a:t>
            </a:r>
            <a:r>
              <a:rPr lang="en-US" altLang="en-US"/>
              <a:t>Sunt vizibile detalii precum starea tehnic</a:t>
            </a:r>
            <a:r>
              <a:rPr lang="" altLang="en-US"/>
              <a:t>ă, </a:t>
            </a:r>
            <a:r>
              <a:rPr lang="en-US" altLang="en-US"/>
              <a:t>scaden</a:t>
            </a:r>
            <a:r>
              <a:rPr lang="" altLang="en-US"/>
              <a:t>ț</a:t>
            </a:r>
            <a:r>
              <a:rPr lang="en-US" altLang="en-US"/>
              <a:t>a reviziei </a:t>
            </a:r>
            <a:r>
              <a:rPr lang="" altLang="en-US"/>
              <a:t>ș</a:t>
            </a:r>
            <a:r>
              <a:rPr lang="en-US" altLang="en-US"/>
              <a:t>i specializ</a:t>
            </a:r>
            <a:r>
              <a:rPr lang="" altLang="en-US"/>
              <a:t>ă</a:t>
            </a:r>
            <a:r>
              <a:rPr lang="en-US" altLang="en-US"/>
              <a:t>rile permise. Meniul contextual permite setarea dependen</a:t>
            </a:r>
            <a:r>
              <a:rPr lang="" altLang="en-US"/>
              <a:t>ț</a:t>
            </a:r>
            <a:r>
              <a:rPr lang="en-US" altLang="en-US"/>
              <a:t>elor între resurse </a:t>
            </a:r>
            <a:r>
              <a:rPr lang="" altLang="en-US"/>
              <a:t>ș</a:t>
            </a:r>
            <a:r>
              <a:rPr lang="en-US" altLang="en-US"/>
              <a:t>i testarea validatorului de constrângeri</a:t>
            </a:r>
            <a:r>
              <a:rPr lang="ro-RO" altLang="en-US"/>
              <a:t>.</a:t>
            </a:r>
            <a:endParaRPr lang="ro-RO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8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0845" y="1643380"/>
            <a:ext cx="5939155" cy="470979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Gestiunea program</a:t>
            </a:r>
            <a:r>
              <a:rPr lang="" altLang="en-US"/>
              <a:t>ă</a:t>
            </a:r>
            <a:r>
              <a:rPr lang="en-US" altLang="en-US"/>
              <a:t>rilor de c</a:t>
            </a:r>
            <a:r>
              <a:rPr lang="" altLang="en-US"/>
              <a:t>ă</a:t>
            </a:r>
            <a:r>
              <a:rPr lang="en-US" altLang="en-US"/>
              <a:t>tre asistent</a:t>
            </a:r>
            <a:r>
              <a:rPr lang="" altLang="en-US"/>
              <a:t>ă. </a:t>
            </a:r>
            <a:r>
              <a:rPr lang="en-US" altLang="en-US"/>
              <a:t>Interfa</a:t>
            </a:r>
            <a:r>
              <a:rPr lang="" altLang="en-US"/>
              <a:t>ț</a:t>
            </a:r>
            <a:r>
              <a:rPr lang="en-US" altLang="en-US"/>
              <a:t>a de lucru pentru personalul de la recep</a:t>
            </a:r>
            <a:r>
              <a:rPr lang="" altLang="en-US"/>
              <a:t>ț</a:t>
            </a:r>
            <a:r>
              <a:rPr lang="en-US" altLang="en-US"/>
              <a:t>ie sau asisten</a:t>
            </a:r>
            <a:r>
              <a:rPr lang="" altLang="en-US"/>
              <a:t>ță. </a:t>
            </a:r>
            <a:r>
              <a:rPr lang="en-US" altLang="en-US"/>
              <a:t>Aceasta afi</a:t>
            </a:r>
            <a:r>
              <a:rPr lang="" altLang="en-US"/>
              <a:t>ș</a:t>
            </a:r>
            <a:r>
              <a:rPr lang="en-US" altLang="en-US"/>
              <a:t>eaz</a:t>
            </a:r>
            <a:r>
              <a:rPr lang="" altLang="en-US"/>
              <a:t>ă </a:t>
            </a:r>
            <a:r>
              <a:rPr lang="en-US" altLang="en-US"/>
              <a:t>toate solicit</a:t>
            </a:r>
            <a:r>
              <a:rPr lang="" altLang="en-US"/>
              <a:t>ă</a:t>
            </a:r>
            <a:r>
              <a:rPr lang="en-US" altLang="en-US"/>
              <a:t>rile </a:t>
            </a:r>
            <a:r>
              <a:rPr lang="" altLang="en-US"/>
              <a:t>ș</a:t>
            </a:r>
            <a:r>
              <a:rPr lang="en-US" altLang="en-US"/>
              <a:t>i ofer</a:t>
            </a:r>
            <a:r>
              <a:rPr lang="" altLang="en-US"/>
              <a:t>ă </a:t>
            </a:r>
            <a:r>
              <a:rPr lang="en-US" altLang="en-US"/>
              <a:t>butoane pentru fluxul opera</a:t>
            </a:r>
            <a:r>
              <a:rPr lang="" altLang="en-US"/>
              <a:t>ț</a:t>
            </a:r>
            <a:r>
              <a:rPr lang="en-US" altLang="en-US"/>
              <a:t>ional: Confirmare (pentru a trece programarea în calendar), Finalizare (dup</a:t>
            </a:r>
            <a:r>
              <a:rPr lang="" altLang="en-US"/>
              <a:t>ă </a:t>
            </a:r>
            <a:r>
              <a:rPr lang="en-US" altLang="en-US"/>
              <a:t>consulta</a:t>
            </a:r>
            <a:r>
              <a:rPr lang="" altLang="en-US"/>
              <a:t>ț</a:t>
            </a:r>
            <a:r>
              <a:rPr lang="en-US" altLang="en-US"/>
              <a:t>ie), Neprezentare sau Modificare.</a:t>
            </a:r>
            <a:endParaRPr lang="en-US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9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4190" y="1798955"/>
            <a:ext cx="5772785" cy="417068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Finalizarea procesului medical. Mesajul de succes dup</a:t>
            </a:r>
            <a:r>
              <a:rPr lang="" altLang="en-US"/>
              <a:t>ă </a:t>
            </a:r>
            <a:r>
              <a:rPr lang="en-US" altLang="en-US"/>
              <a:t>ce o consulta</a:t>
            </a:r>
            <a:r>
              <a:rPr lang="" altLang="en-US"/>
              <a:t>ț</a:t>
            </a:r>
            <a:r>
              <a:rPr lang="en-US" altLang="en-US"/>
              <a:t>ie a fost marcat</a:t>
            </a:r>
            <a:r>
              <a:rPr lang="" altLang="en-US"/>
              <a:t>ă </a:t>
            </a:r>
            <a:r>
              <a:rPr lang="en-US" altLang="en-US"/>
              <a:t>ca finalizat</a:t>
            </a:r>
            <a:r>
              <a:rPr lang="" altLang="en-US"/>
              <a:t>ă. </a:t>
            </a:r>
            <a:r>
              <a:rPr lang="en-US" altLang="en-US"/>
              <a:t>Aceast</a:t>
            </a:r>
            <a:r>
              <a:rPr lang="" altLang="en-US"/>
              <a:t>ă </a:t>
            </a:r>
            <a:r>
              <a:rPr lang="en-US" altLang="en-US"/>
              <a:t>ac</a:t>
            </a:r>
            <a:r>
              <a:rPr lang="" altLang="en-US"/>
              <a:t>ț</a:t>
            </a:r>
            <a:r>
              <a:rPr lang="en-US" altLang="en-US"/>
              <a:t>iune declan</a:t>
            </a:r>
            <a:r>
              <a:rPr lang="" altLang="en-US"/>
              <a:t>ș</a:t>
            </a:r>
            <a:r>
              <a:rPr lang="en-US" altLang="en-US"/>
              <a:t>eaz</a:t>
            </a:r>
            <a:r>
              <a:rPr lang="" altLang="en-US"/>
              <a:t>ă </a:t>
            </a:r>
            <a:r>
              <a:rPr lang="en-US" altLang="en-US"/>
              <a:t>automat actualizarea fi</a:t>
            </a:r>
            <a:r>
              <a:rPr lang="" altLang="en-US"/>
              <a:t>ș</a:t>
            </a:r>
            <a:r>
              <a:rPr lang="en-US" altLang="en-US"/>
              <a:t>ei medicale a pacientului, asigurând fluxul de date între departamentul administrativ </a:t>
            </a:r>
            <a:r>
              <a:rPr lang="" altLang="en-US"/>
              <a:t>ș</a:t>
            </a:r>
            <a:r>
              <a:rPr lang="en-US" altLang="en-US"/>
              <a:t>i cel medical.</a:t>
            </a:r>
            <a:endParaRPr lang="en-US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poza10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4665" y="1757680"/>
            <a:ext cx="5709285" cy="440626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Vizualizarea fi</a:t>
            </a:r>
            <a:r>
              <a:rPr lang="" altLang="en-US"/>
              <a:t>ș</a:t>
            </a:r>
            <a:r>
              <a:rPr lang="en-US" altLang="en-US"/>
              <a:t>ei pacientului de c</a:t>
            </a:r>
            <a:r>
              <a:rPr lang="" altLang="en-US"/>
              <a:t>ă</a:t>
            </a:r>
            <a:r>
              <a:rPr lang="en-US" altLang="en-US"/>
              <a:t>tre medic. Aceasta este interfa</a:t>
            </a:r>
            <a:r>
              <a:rPr lang="" altLang="en-US"/>
              <a:t>ț</a:t>
            </a:r>
            <a:r>
              <a:rPr lang="en-US" altLang="en-US"/>
              <a:t>a unde medicul poate consulta datele de contact </a:t>
            </a:r>
            <a:r>
              <a:rPr lang="" altLang="en-US"/>
              <a:t>ș</a:t>
            </a:r>
            <a:r>
              <a:rPr lang="en-US" altLang="en-US"/>
              <a:t>i istoricul medical al pacientului. Un element interesant este sec</a:t>
            </a:r>
            <a:r>
              <a:rPr lang="" altLang="en-US"/>
              <a:t>ț</a:t>
            </a:r>
            <a:r>
              <a:rPr lang="en-US" altLang="en-US"/>
              <a:t>iunea de „Rating pacient”, unde medicul poate l</a:t>
            </a:r>
            <a:r>
              <a:rPr lang="" altLang="en-US"/>
              <a:t>ă</a:t>
            </a:r>
            <a:r>
              <a:rPr lang="en-US" altLang="en-US"/>
              <a:t>sa un scor </a:t>
            </a:r>
            <a:r>
              <a:rPr lang="" altLang="en-US"/>
              <a:t>ș</a:t>
            </a:r>
            <a:r>
              <a:rPr lang="en-US" altLang="en-US"/>
              <a:t>i un comentariu dup</a:t>
            </a:r>
            <a:r>
              <a:rPr lang="" altLang="en-US"/>
              <a:t>ă </a:t>
            </a:r>
            <a:r>
              <a:rPr lang="en-US" altLang="en-US"/>
              <a:t>consulta</a:t>
            </a:r>
            <a:r>
              <a:rPr lang="" altLang="en-US"/>
              <a:t>ț</a:t>
            </a:r>
            <a:r>
              <a:rPr lang="en-US" altLang="en-US"/>
              <a:t>ie, facilitând o evaluare bidirec</a:t>
            </a:r>
            <a:r>
              <a:rPr lang="" altLang="en-US"/>
              <a:t>ț</a:t>
            </a:r>
            <a:r>
              <a:rPr lang="en-US" altLang="en-US"/>
              <a:t>ional</a:t>
            </a:r>
            <a:r>
              <a:rPr lang="" altLang="en-US"/>
              <a:t>ă.</a:t>
            </a:r>
            <a:endParaRPr lang="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4115</Words>
  <Application>WPS Presentation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Clinică medicală</dc:title>
  <dc:creator>val</dc:creator>
  <cp:lastModifiedBy>val</cp:lastModifiedBy>
  <cp:revision>1</cp:revision>
  <dcterms:created xsi:type="dcterms:W3CDTF">2026-05-15T08:08:40Z</dcterms:created>
  <dcterms:modified xsi:type="dcterms:W3CDTF">2026-05-15T08:08:40Z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7E03DD0F6D9C4F8DB332274656D7DE81_11</vt:lpwstr>
  </property>
</Properties>
</file>